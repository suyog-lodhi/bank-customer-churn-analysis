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71" r:id="rId15"/>
    <p:sldId id="272" r:id="rId16"/>
    <p:sldId id="273" r:id="rId17"/>
    <p:sldId id="274" r:id="rId18"/>
    <p:sldId id="275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2A96FC-156B-4810-B819-1FED3C278D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0"/>
            <p14:sldId id="264"/>
            <p14:sldId id="265"/>
            <p14:sldId id="266"/>
            <p14:sldId id="267"/>
            <p14:sldId id="271"/>
            <p14:sldId id="272"/>
            <p14:sldId id="273"/>
            <p14:sldId id="274"/>
            <p14:sldId id="275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A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0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6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7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3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84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8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98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9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54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7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00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85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6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600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53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8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2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89F1-10ED-D528-8DAD-C9F055257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265" y="737701"/>
            <a:ext cx="8825658" cy="2677648"/>
          </a:xfrm>
        </p:spPr>
        <p:txBody>
          <a:bodyPr/>
          <a:lstStyle/>
          <a:p>
            <a:pPr algn="l" fontAlgn="base"/>
            <a:r>
              <a:rPr lang="en-US" b="1" dirty="0"/>
              <a:t>Bank Customer Churn &amp; Financial Risk Analysis</a:t>
            </a:r>
            <a:endParaRPr lang="en-IN" b="1" i="0" dirty="0">
              <a:solidFill>
                <a:srgbClr val="202124"/>
              </a:solidFill>
              <a:effectLst/>
              <a:latin typeface="Inter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FC7A3-F834-3288-EA4F-45ECDD419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265" y="4590565"/>
            <a:ext cx="8825658" cy="1529730"/>
          </a:xfr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>
            <a:normAutofit lnSpcReduction="10000"/>
          </a:bodyPr>
          <a:lstStyle/>
          <a:p>
            <a:r>
              <a:rPr lang="en-US" sz="2800" b="1" i="1" dirty="0"/>
              <a:t> Customer Behaviour   • Financial Risk </a:t>
            </a:r>
          </a:p>
          <a:p>
            <a:r>
              <a:rPr lang="en-US" sz="2800" b="1" i="1" dirty="0"/>
              <a:t> Product Usage              • Churn Impact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2026 | Power BI Project</a:t>
            </a:r>
          </a:p>
          <a:p>
            <a:endParaRPr lang="en-IN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8FF1CA-B2A2-930C-D110-AFF5570132D7}"/>
              </a:ext>
            </a:extLst>
          </p:cNvPr>
          <p:cNvCxnSpPr>
            <a:cxnSpLocks/>
          </p:cNvCxnSpPr>
          <p:nvPr/>
        </p:nvCxnSpPr>
        <p:spPr>
          <a:xfrm>
            <a:off x="4073281" y="4070555"/>
            <a:ext cx="383185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FD18-C9BF-B83E-C4AC-BC4FEA30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973669"/>
            <a:ext cx="3893574" cy="687984"/>
          </a:xfrm>
        </p:spPr>
        <p:txBody>
          <a:bodyPr/>
          <a:lstStyle/>
          <a:p>
            <a:pPr algn="ctr"/>
            <a:r>
              <a:rPr lang="en-US" sz="40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CONTENTS</a:t>
            </a:r>
            <a:endParaRPr lang="en-IN" sz="4000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7E05-766C-84A6-37FC-C708C19E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644" y="2273218"/>
            <a:ext cx="7777317" cy="4493342"/>
          </a:xfrm>
        </p:spPr>
        <p:txBody>
          <a:bodyPr>
            <a:normAutofit lnSpcReduction="10000"/>
          </a:bodyPr>
          <a:lstStyle/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and Study Area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Bank Churn Analysis Overview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 Analysis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Financial Analysis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Bank Product Analysis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Engagement and Loyalty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 Impact Analysis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 And Observations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Demonstration (6 slides)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A9495D-C791-7BA8-89DE-DD93E8578872}"/>
              </a:ext>
            </a:extLst>
          </p:cNvPr>
          <p:cNvCxnSpPr>
            <a:cxnSpLocks/>
          </p:cNvCxnSpPr>
          <p:nvPr/>
        </p:nvCxnSpPr>
        <p:spPr>
          <a:xfrm>
            <a:off x="491613" y="2133600"/>
            <a:ext cx="0" cy="449334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91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D3C6-2B13-9B83-5F2D-C35889EC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392" y="1034846"/>
            <a:ext cx="6685937" cy="687983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INTRODUCTION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15E8-B388-3369-CE97-C33D7D00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93" y="2793426"/>
            <a:ext cx="9640864" cy="3305687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This project analyzes 10,000 bank customers from different Countries to identify Churn Drivers and Financial Risk.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objective is to identify Customer Behaviour, Product Relationships, and Balance Exposure.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analysis was conducted using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BI, SQL, Excel, and DAX .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FEA85B-4F6D-959C-70EA-91BB9FB1B1B7}"/>
              </a:ext>
            </a:extLst>
          </p:cNvPr>
          <p:cNvCxnSpPr>
            <a:cxnSpLocks/>
          </p:cNvCxnSpPr>
          <p:nvPr/>
        </p:nvCxnSpPr>
        <p:spPr>
          <a:xfrm>
            <a:off x="491613" y="2603500"/>
            <a:ext cx="0" cy="368554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6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FC91-8167-E10D-A2D8-EDEAA0BF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245" y="973669"/>
            <a:ext cx="3077497" cy="706964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DATASET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FF66726-1E49-0D70-BA26-22D02AB0C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090335"/>
              </p:ext>
            </p:extLst>
          </p:nvPr>
        </p:nvGraphicFramePr>
        <p:xfrm>
          <a:off x="809704" y="2683478"/>
          <a:ext cx="10780932" cy="3985734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5390466">
                  <a:extLst>
                    <a:ext uri="{9D8B030D-6E8A-4147-A177-3AD203B41FA5}">
                      <a16:colId xmlns:a16="http://schemas.microsoft.com/office/drawing/2014/main" val="2540082429"/>
                    </a:ext>
                  </a:extLst>
                </a:gridCol>
                <a:gridCol w="5390466">
                  <a:extLst>
                    <a:ext uri="{9D8B030D-6E8A-4147-A177-3AD203B41FA5}">
                      <a16:colId xmlns:a16="http://schemas.microsoft.com/office/drawing/2014/main" val="4018213384"/>
                    </a:ext>
                  </a:extLst>
                </a:gridCol>
              </a:tblGrid>
              <a:tr h="590274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Dataset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Bank Customer Churn Dataset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08144"/>
                  </a:ext>
                </a:extLst>
              </a:tr>
              <a:tr h="7437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File Structure and Format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1 CSV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640389"/>
                  </a:ext>
                </a:extLst>
              </a:tr>
              <a:tr h="153582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Dataset Structure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1 CSV file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~ </a:t>
                      </a:r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10K Rows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~ 13 Columns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582448"/>
                  </a:ext>
                </a:extLst>
              </a:tr>
              <a:tr h="46304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 Source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Maven Analytics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1800" kern="1200" dirty="0">
                        <a:solidFill>
                          <a:schemeClr val="dk1"/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54523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92C297-7828-DF24-67FE-7F3930587119}"/>
              </a:ext>
            </a:extLst>
          </p:cNvPr>
          <p:cNvCxnSpPr>
            <a:cxnSpLocks/>
          </p:cNvCxnSpPr>
          <p:nvPr/>
        </p:nvCxnSpPr>
        <p:spPr>
          <a:xfrm>
            <a:off x="357948" y="2458791"/>
            <a:ext cx="0" cy="421042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98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3275-1AF6-4C75-9BB8-85B195EB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779" y="995779"/>
            <a:ext cx="3269562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TOOLS USED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F64C5F-8F60-8287-BBF4-197311CDE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017264"/>
              </p:ext>
            </p:extLst>
          </p:nvPr>
        </p:nvGraphicFramePr>
        <p:xfrm>
          <a:off x="791159" y="3566158"/>
          <a:ext cx="2762857" cy="2923131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2762857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2923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Data Cleaning and Preprocessing.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Initial Data Exploration.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Handling Missing Values and Blanks.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Data Transformation. </a:t>
                      </a:r>
                      <a:endParaRPr lang="en-IN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A6719C-7155-1571-95D9-1C91ACFDB99A}"/>
              </a:ext>
            </a:extLst>
          </p:cNvPr>
          <p:cNvSpPr/>
          <p:nvPr/>
        </p:nvSpPr>
        <p:spPr>
          <a:xfrm>
            <a:off x="791160" y="2603500"/>
            <a:ext cx="2394491" cy="7546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EXCEL</a:t>
            </a:r>
            <a:endParaRPr lang="en-IN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DDF2EE8-AE75-8D27-F56B-DBA791FC364F}"/>
              </a:ext>
            </a:extLst>
          </p:cNvPr>
          <p:cNvSpPr/>
          <p:nvPr/>
        </p:nvSpPr>
        <p:spPr>
          <a:xfrm>
            <a:off x="4621260" y="2603500"/>
            <a:ext cx="2408903" cy="754626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SQL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3F5FD8-2952-B102-340D-FE2AE6AA625E}"/>
              </a:ext>
            </a:extLst>
          </p:cNvPr>
          <p:cNvSpPr/>
          <p:nvPr/>
        </p:nvSpPr>
        <p:spPr>
          <a:xfrm>
            <a:off x="8337755" y="2603500"/>
            <a:ext cx="2566219" cy="7546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  <a:endParaRPr lang="en-IN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EE0820F3-630C-5B7F-47F7-00DC7C3535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9734332"/>
              </p:ext>
            </p:extLst>
          </p:nvPr>
        </p:nvGraphicFramePr>
        <p:xfrm>
          <a:off x="4497273" y="3714422"/>
          <a:ext cx="3188630" cy="2635578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3188630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26355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Data Validation and KPI Verification.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Query based Data Analysis.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B9E2DD18-B01B-F44F-72DD-9053F0C13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6384017"/>
              </p:ext>
            </p:extLst>
          </p:nvPr>
        </p:nvGraphicFramePr>
        <p:xfrm>
          <a:off x="8337755" y="3566159"/>
          <a:ext cx="2758613" cy="310896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2758613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27838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Data Modelling.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00206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Created Calculated columns and DAX Measures.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00206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Designed Dashboards and Visuals.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00206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Visual Analysis.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D5052F-B6C2-5705-448F-4708728B3499}"/>
              </a:ext>
            </a:extLst>
          </p:cNvPr>
          <p:cNvCxnSpPr>
            <a:cxnSpLocks/>
          </p:cNvCxnSpPr>
          <p:nvPr/>
        </p:nvCxnSpPr>
        <p:spPr>
          <a:xfrm>
            <a:off x="501773" y="2428240"/>
            <a:ext cx="0" cy="392176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80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F322-6470-5FBF-93B3-6E69D27E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521" y="861909"/>
            <a:ext cx="6972360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Bank Churn Analysis Overview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6912FC1-2F1F-97C5-5CC5-9B0E134D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4" y="2377907"/>
            <a:ext cx="5978012" cy="3334635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The bank has </a:t>
            </a:r>
            <a:r>
              <a:rPr lang="en-US" b="1" dirty="0"/>
              <a:t>10,000 customers with a 20% churn rate (2,037 customers)</a:t>
            </a:r>
            <a:r>
              <a:rPr lang="en-US" dirty="0"/>
              <a:t>, indicating a significant customer retention challenge</a:t>
            </a:r>
            <a:r>
              <a:rPr lang="en-US" dirty="0">
                <a:latin typeface="+mj-lt"/>
                <a:cs typeface="Segoe UI Semibold" panose="020B0702040204020203" pitchFamily="34" charset="0"/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The majority of customers belong to the </a:t>
            </a:r>
            <a:r>
              <a:rPr lang="en-US" b="1" dirty="0"/>
              <a:t>26–45 age group</a:t>
            </a:r>
            <a:r>
              <a:rPr lang="en-US" dirty="0"/>
              <a:t>, making it the bank’s core customer segment</a:t>
            </a:r>
            <a:r>
              <a:rPr lang="en-US" dirty="0">
                <a:latin typeface="+mj-lt"/>
                <a:cs typeface="Segoe UI Semibold" panose="020B0702040204020203" pitchFamily="34" charset="0"/>
              </a:rPr>
              <a:t>.</a:t>
            </a:r>
            <a:endParaRPr lang="en-IN" dirty="0">
              <a:latin typeface="+mj-lt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/>
              <a:t>Germany shows the highest churn rate (32.44%)</a:t>
            </a:r>
            <a:r>
              <a:rPr lang="en-US" dirty="0"/>
              <a:t> compared to France and Spain, highlighting it as the highest risk region</a:t>
            </a:r>
            <a:r>
              <a:rPr lang="en-US" dirty="0">
                <a:latin typeface="+mj-lt"/>
                <a:cs typeface="Segoe UI Semibold" panose="020B0702040204020203" pitchFamily="34" charset="0"/>
              </a:rPr>
              <a:t>.</a:t>
            </a:r>
            <a:endParaRPr lang="en-IN" dirty="0">
              <a:latin typeface="+mj-lt"/>
              <a:cs typeface="Segoe UI Semibold" panose="020B0702040204020203" pitchFamily="34" charset="0"/>
            </a:endParaRPr>
          </a:p>
        </p:txBody>
      </p:sp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0D6F1ED-70EF-A114-199D-16DAEB573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765" y="4566334"/>
            <a:ext cx="4328328" cy="2060607"/>
          </a:xfrm>
          <a:prstGeom prst="rect">
            <a:avLst/>
          </a:prstGeom>
        </p:spPr>
      </p:pic>
      <p:pic>
        <p:nvPicPr>
          <p:cNvPr id="8" name="Picture 7" descr="A graph of customer satisfaction&#10;&#10;AI-generated content may be incorrect.">
            <a:extLst>
              <a:ext uri="{FF2B5EF4-FFF2-40B4-BE49-F238E27FC236}">
                <a16:creationId xmlns:a16="http://schemas.microsoft.com/office/drawing/2014/main" id="{4C3B1D08-C7D0-CC9A-4459-57C2CBC9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765" y="2377907"/>
            <a:ext cx="4328328" cy="192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3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DD9F-A0EC-E173-C278-0577C125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691" y="796214"/>
            <a:ext cx="5532287" cy="867032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Churn Analysis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0EB5BF-A684-9F91-FA21-2089EDE2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68" y="2985272"/>
            <a:ext cx="3775914" cy="3774404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/>
              <a:t>Customer </a:t>
            </a:r>
            <a:r>
              <a:rPr lang="en-US" b="1" dirty="0"/>
              <a:t>inactivity is the strongest churn driver</a:t>
            </a:r>
            <a:r>
              <a:rPr lang="en-US" dirty="0"/>
              <a:t>, with inactive customers churning at much higher rates</a:t>
            </a:r>
            <a:r>
              <a:rPr lang="en-US" dirty="0">
                <a:latin typeface="+mj-lt"/>
              </a:rPr>
              <a:t>.</a:t>
            </a:r>
            <a:endParaRPr lang="en-US" dirty="0">
              <a:latin typeface="+mj-lt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/>
              <a:t>Customers with </a:t>
            </a:r>
            <a:r>
              <a:rPr lang="en-US" b="1" dirty="0"/>
              <a:t>weaker product relationships (1 product)</a:t>
            </a:r>
            <a:r>
              <a:rPr lang="en-US" dirty="0"/>
              <a:t> are more likely to leave the bank.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Middle-aged customers (36–55)</a:t>
            </a:r>
            <a:r>
              <a:rPr lang="en-US" dirty="0"/>
              <a:t> represent a key churn risk segment due to higher financial value.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E33EA5D4-DDB5-256F-34B9-CF773CE2E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844" y="4572000"/>
            <a:ext cx="4223017" cy="2187676"/>
          </a:xfrm>
          <a:prstGeom prst="rect">
            <a:avLst/>
          </a:prstGeom>
        </p:spPr>
      </p:pic>
      <p:pic>
        <p:nvPicPr>
          <p:cNvPr id="8" name="Picture 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96B1FF8-0CB0-C2EB-0E00-3623F0753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45" y="2396224"/>
            <a:ext cx="4223017" cy="2015183"/>
          </a:xfrm>
          <a:prstGeom prst="rect">
            <a:avLst/>
          </a:prstGeom>
        </p:spPr>
      </p:pic>
      <p:pic>
        <p:nvPicPr>
          <p:cNvPr id="10" name="Picture 9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6CA8FD5E-6422-5D7E-5A3B-626D751DD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156" y="4572000"/>
            <a:ext cx="2713703" cy="218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0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6BD5-31D7-DF05-7DBE-904915FE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395" y="922869"/>
            <a:ext cx="676984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Financial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7E59-613D-A5B8-9874-93AAD208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2509519"/>
            <a:ext cx="6104194" cy="3851952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/>
              <a:t>Churned customers account for a </a:t>
            </a:r>
            <a:r>
              <a:rPr lang="en-US" b="1" dirty="0"/>
              <a:t>significant portion of total bank balance</a:t>
            </a:r>
            <a:r>
              <a:rPr lang="en-US" dirty="0"/>
              <a:t>, showing churn is a major financial risk.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Churned customers have higher average balances</a:t>
            </a:r>
            <a:r>
              <a:rPr lang="en-US" dirty="0"/>
              <a:t> compared to retained customers, indicating loss of high-value customers.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Germany has the highest average customer balance</a:t>
            </a:r>
            <a:r>
              <a:rPr lang="en-US" dirty="0"/>
              <a:t>, making it the most financially exposed region.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 descr="A graph of a chart&#10;&#10;AI-generated content may be incorrect.">
            <a:extLst>
              <a:ext uri="{FF2B5EF4-FFF2-40B4-BE49-F238E27FC236}">
                <a16:creationId xmlns:a16="http://schemas.microsoft.com/office/drawing/2014/main" id="{0C34386B-E3D3-FF93-F3D9-0A325BE7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0727"/>
            <a:ext cx="3724799" cy="2136834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27ECD637-4E72-0199-0354-4F6DE4BF4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4627224"/>
            <a:ext cx="3805084" cy="21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2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A605-396D-EA3C-6E54-055CD294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406" y="602225"/>
            <a:ext cx="8825659" cy="1285568"/>
          </a:xfrm>
        </p:spPr>
        <p:txBody>
          <a:bodyPr/>
          <a:lstStyle/>
          <a:p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Bank Product Analysis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115B9-7EDC-3300-8FD2-1B214A877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2458065"/>
            <a:ext cx="3234813" cy="4316361"/>
          </a:xfrm>
        </p:spPr>
        <p:txBody>
          <a:bodyPr>
            <a:normAutofit/>
          </a:bodyPr>
          <a:lstStyle/>
          <a:p>
            <a:r>
              <a:rPr lang="en-US" dirty="0"/>
              <a:t>Most customers have </a:t>
            </a:r>
            <a:r>
              <a:rPr lang="en-US" b="1" dirty="0"/>
              <a:t>1 or 2 bank products</a:t>
            </a:r>
            <a:r>
              <a:rPr lang="en-US" dirty="0"/>
              <a:t>, showing limited product engagement.</a:t>
            </a:r>
          </a:p>
          <a:p>
            <a:r>
              <a:rPr lang="en-US" dirty="0"/>
              <a:t>Customers with </a:t>
            </a:r>
            <a:r>
              <a:rPr lang="en-US" b="1" dirty="0"/>
              <a:t>only 1 product show higher churn</a:t>
            </a:r>
            <a:r>
              <a:rPr lang="en-US" dirty="0"/>
              <a:t>, indicating weak customer relationships.</a:t>
            </a:r>
          </a:p>
          <a:p>
            <a:r>
              <a:rPr lang="en-US" dirty="0"/>
              <a:t>Customers with </a:t>
            </a:r>
            <a:r>
              <a:rPr lang="en-US" b="1" dirty="0"/>
              <a:t>multiple products show better retention</a:t>
            </a:r>
            <a:r>
              <a:rPr lang="en-US" dirty="0"/>
              <a:t>, highlighting cross-selling opportunities.</a:t>
            </a:r>
            <a:endParaRPr lang="en-IN" dirty="0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6E8D120-30D4-FA9B-5615-1C735E62F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81" y="2648876"/>
            <a:ext cx="3806176" cy="2906350"/>
          </a:xfrm>
          <a:prstGeom prst="rect">
            <a:avLst/>
          </a:prstGeom>
        </p:spPr>
      </p:pic>
      <p:pic>
        <p:nvPicPr>
          <p:cNvPr id="7" name="Picture 6" descr="A graph showing the amount of ownership of tenancy&#10;&#10;AI-generated content may be incorrect.">
            <a:extLst>
              <a:ext uri="{FF2B5EF4-FFF2-40B4-BE49-F238E27FC236}">
                <a16:creationId xmlns:a16="http://schemas.microsoft.com/office/drawing/2014/main" id="{12AB7E02-C62E-CFB1-4E35-B74334598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912" y="2648876"/>
            <a:ext cx="3806176" cy="290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6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4975-8230-3ED2-E251-70038625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019" y="730043"/>
            <a:ext cx="6643665" cy="1138085"/>
          </a:xfrm>
        </p:spPr>
        <p:txBody>
          <a:bodyPr/>
          <a:lstStyle/>
          <a:p>
            <a:pPr>
              <a:buClr>
                <a:schemeClr val="tx2">
                  <a:lumMod val="75000"/>
                </a:schemeClr>
              </a:buClr>
            </a:pPr>
            <a:r>
              <a:rPr lang="en-I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Customer Engagement and Loyalty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20E6-9EF5-9472-8F02-D949D486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34" y="2458065"/>
            <a:ext cx="3604514" cy="4399935"/>
          </a:xfrm>
        </p:spPr>
        <p:txBody>
          <a:bodyPr>
            <a:noAutofit/>
          </a:bodyPr>
          <a:lstStyle/>
          <a:p>
            <a:pPr>
              <a:buClr>
                <a:schemeClr val="accent3">
                  <a:lumMod val="75000"/>
                </a:schemeClr>
              </a:buClr>
            </a:pPr>
            <a:r>
              <a:rPr lang="en-US" dirty="0"/>
              <a:t>Customers with </a:t>
            </a:r>
            <a:r>
              <a:rPr lang="en-US" b="1" dirty="0"/>
              <a:t>longer tenure do not always guarantee loyalty</a:t>
            </a:r>
            <a:r>
              <a:rPr lang="en-US" dirty="0"/>
              <a:t>, showing engagement matters more than duration.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en-US" dirty="0"/>
              <a:t>Active customers show </a:t>
            </a:r>
            <a:r>
              <a:rPr lang="en-US" b="1" dirty="0"/>
              <a:t>much better retention</a:t>
            </a:r>
            <a:r>
              <a:rPr lang="en-US" dirty="0"/>
              <a:t>, highlighting the importance of customer interaction.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en-US" b="1" dirty="0"/>
              <a:t>Inactive customers have significantly higher churn</a:t>
            </a:r>
            <a:r>
              <a:rPr lang="en-US" dirty="0"/>
              <a:t>, proving engagement is critical for retention.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49A1D514-761F-78CC-7240-C6048A39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94" y="4790768"/>
            <a:ext cx="3893574" cy="2067232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DC38B44-69E7-8309-E532-ACE6DBF8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394" y="2463643"/>
            <a:ext cx="5554431" cy="219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2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7DCA-7739-0DA4-061C-42C1852D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395" y="716690"/>
            <a:ext cx="6990734" cy="1328420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Churn Impact Analysis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8672D-6515-E6F3-2BFC-5B6915367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51" y="2367526"/>
            <a:ext cx="5245846" cy="4490474"/>
          </a:xfrm>
        </p:spPr>
        <p:txBody>
          <a:bodyPr>
            <a:normAutofit/>
          </a:bodyPr>
          <a:lstStyle/>
          <a:p>
            <a:r>
              <a:rPr lang="en-US" sz="1600" dirty="0"/>
              <a:t>Customer churn resulted in a </a:t>
            </a:r>
            <a:r>
              <a:rPr lang="en-US" sz="1600" b="1" dirty="0"/>
              <a:t>total balance loss of $186M (24% of total bank balance)</a:t>
            </a:r>
            <a:r>
              <a:rPr lang="en-US" sz="1600" dirty="0"/>
              <a:t>, showing significant financial exposure.</a:t>
            </a:r>
          </a:p>
          <a:p>
            <a:r>
              <a:rPr lang="en-US" sz="1600" b="1" dirty="0"/>
              <a:t>Germany has the highest financial impact</a:t>
            </a:r>
            <a:r>
              <a:rPr lang="en-US" sz="1600" dirty="0"/>
              <a:t>, losing </a:t>
            </a:r>
            <a:r>
              <a:rPr lang="en-US" sz="1600" b="1" dirty="0"/>
              <a:t>$98M (33%)</a:t>
            </a:r>
            <a:r>
              <a:rPr lang="en-US" sz="1600" dirty="0"/>
              <a:t>, making it the highest risk country.</a:t>
            </a:r>
          </a:p>
          <a:p>
            <a:r>
              <a:rPr lang="en-US" sz="1600" b="1" dirty="0"/>
              <a:t>High-value</a:t>
            </a:r>
            <a:r>
              <a:rPr lang="en-US" sz="1600" dirty="0"/>
              <a:t> customers contribute </a:t>
            </a:r>
            <a:r>
              <a:rPr lang="en-US" sz="1600" b="1" dirty="0"/>
              <a:t>major</a:t>
            </a:r>
            <a:r>
              <a:rPr lang="en-US" sz="1600" dirty="0"/>
              <a:t> churn loss, with </a:t>
            </a:r>
            <a:r>
              <a:rPr lang="en-US" sz="1600" b="1" dirty="0"/>
              <a:t>1,426</a:t>
            </a:r>
            <a:r>
              <a:rPr lang="en-US" sz="1600" dirty="0"/>
              <a:t> high-balance customers churning</a:t>
            </a:r>
          </a:p>
          <a:p>
            <a:r>
              <a:rPr lang="en-US" dirty="0"/>
              <a:t>The </a:t>
            </a:r>
            <a:r>
              <a:rPr lang="en-US" b="1" dirty="0"/>
              <a:t>36–55 age group contributes the highest lost balance</a:t>
            </a:r>
            <a:r>
              <a:rPr lang="en-US" dirty="0"/>
              <a:t>, indicating financially mature customers create the biggest churn impact.</a:t>
            </a:r>
          </a:p>
          <a:p>
            <a:r>
              <a:rPr lang="en-US" b="1" dirty="0"/>
              <a:t>Low product engagement </a:t>
            </a:r>
            <a:r>
              <a:rPr lang="en-US" dirty="0"/>
              <a:t>customers create </a:t>
            </a:r>
            <a:r>
              <a:rPr lang="en-US" b="1" dirty="0"/>
              <a:t>maximum</a:t>
            </a:r>
            <a:r>
              <a:rPr lang="en-US" dirty="0"/>
              <a:t> financial loss.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 descr="A screenshot of a blue screen&#10;&#10;AI-generated content may be incorrect.">
            <a:extLst>
              <a:ext uri="{FF2B5EF4-FFF2-40B4-BE49-F238E27FC236}">
                <a16:creationId xmlns:a16="http://schemas.microsoft.com/office/drawing/2014/main" id="{B7C8013C-6050-3EF7-DC0E-4FF6D700F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743" y="2269943"/>
            <a:ext cx="5087538" cy="2584057"/>
          </a:xfrm>
          <a:prstGeom prst="rect">
            <a:avLst/>
          </a:prstGeom>
        </p:spPr>
      </p:pic>
      <p:pic>
        <p:nvPicPr>
          <p:cNvPr id="7" name="Picture 6" descr="A graph of a lost balance&#10;&#10;AI-generated content may be incorrect.">
            <a:extLst>
              <a:ext uri="{FF2B5EF4-FFF2-40B4-BE49-F238E27FC236}">
                <a16:creationId xmlns:a16="http://schemas.microsoft.com/office/drawing/2014/main" id="{56D797D9-5DF9-EA88-4DE5-E33A83389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653" y="4951582"/>
            <a:ext cx="2391563" cy="1906418"/>
          </a:xfrm>
          <a:prstGeom prst="rect">
            <a:avLst/>
          </a:prstGeom>
        </p:spPr>
      </p:pic>
      <p:pic>
        <p:nvPicPr>
          <p:cNvPr id="10" name="Picture 9" descr="A graph of a lost balance&#10;&#10;AI-generated content may be incorrect.">
            <a:extLst>
              <a:ext uri="{FF2B5EF4-FFF2-40B4-BE49-F238E27FC236}">
                <a16:creationId xmlns:a16="http://schemas.microsoft.com/office/drawing/2014/main" id="{F7414F46-6C80-6DC4-BDF3-55DF0D73F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587" y="4951581"/>
            <a:ext cx="3671694" cy="190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4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52A0-D7D9-94D3-035E-A37B6B7A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853441"/>
            <a:ext cx="8818880" cy="772160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 AND OBSERVATIONS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9DE9-3DD0-7F35-E035-076644B7A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5" y="2379406"/>
            <a:ext cx="11651226" cy="4478594"/>
          </a:xfrm>
        </p:spPr>
        <p:txBody>
          <a:bodyPr>
            <a:normAutofit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1 in 5 customers churned, showing a clear retention problem.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Inactive customers are the highest Churn segment 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High-value customers form a major portion of financial loss.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Customers with multiple products show better retention, highlighting cross-sell opportunities.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Active customers are significantly more loyal, proving engagement improves retention.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The 36–55 age group contributes the highest financial loss, making them a key risk segment.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Customer churn has resulted in $186M balance loss (24%), showing major financial impact.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55ACBD"/>
                </a:solidFill>
              </a:rPr>
              <a:t>Customer tenure alone does not guarantee loyalty, showing engagement matters more than duration.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952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68C5-E918-08B4-C3F7-CF22AEE8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355" y="485989"/>
            <a:ext cx="5631926" cy="706964"/>
          </a:xfrm>
        </p:spPr>
        <p:txBody>
          <a:bodyPr/>
          <a:lstStyle/>
          <a:p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Bank Churn Overview Dashboard</a:t>
            </a:r>
            <a:endParaRPr lang="en-IN" sz="2400" u="sng" dirty="0">
              <a:solidFill>
                <a:schemeClr val="accent3">
                  <a:lumMod val="60000"/>
                  <a:lumOff val="40000"/>
                </a:schemeClr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210559-CFA7-03F6-16B0-E97FAA356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61" y="2300471"/>
            <a:ext cx="11961871" cy="4557529"/>
          </a:xfrm>
        </p:spPr>
      </p:pic>
    </p:spTree>
    <p:extLst>
      <p:ext uri="{BB962C8B-B14F-4D97-AF65-F5344CB8AC3E}">
        <p14:creationId xmlns:p14="http://schemas.microsoft.com/office/powerpoint/2010/main" val="288453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CF37-2590-CEEB-9164-EC92AB24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993" y="528621"/>
            <a:ext cx="3004091" cy="619157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2.Churn Analysis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DCB3A4-1165-AB61-DE18-F83B7C3C6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29" y="2207741"/>
            <a:ext cx="11936627" cy="4650259"/>
          </a:xfrm>
        </p:spPr>
      </p:pic>
    </p:spTree>
    <p:extLst>
      <p:ext uri="{BB962C8B-B14F-4D97-AF65-F5344CB8AC3E}">
        <p14:creationId xmlns:p14="http://schemas.microsoft.com/office/powerpoint/2010/main" val="3866735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C34E-EC42-9B24-9A21-CC40ED32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005" y="484718"/>
            <a:ext cx="3839833" cy="706964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Financial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77246-BB07-50B7-2189-F0645D723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41" y="1118829"/>
            <a:ext cx="10083317" cy="37567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D5A482-403B-98E3-CD2A-2E92645D8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5" y="2232454"/>
            <a:ext cx="11903676" cy="462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9556-3975-9EEF-9C59-8F526C729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154" y="488134"/>
            <a:ext cx="3879162" cy="638821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 Bank Products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B1EDA-2FB1-87E8-B79A-53765C7BA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941" y="1061883"/>
            <a:ext cx="9375394" cy="3166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B7FF8-94F4-7F01-B361-8588C5196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" y="2240692"/>
            <a:ext cx="11944865" cy="461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9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762A-1BB1-D41C-D0A1-D601E289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504" y="764865"/>
            <a:ext cx="5442489" cy="589935"/>
          </a:xfrm>
        </p:spPr>
        <p:txBody>
          <a:bodyPr/>
          <a:lstStyle/>
          <a:p>
            <a:pPr algn="ctr"/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5. Customer Engagement and Loyalty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6330-5553-3F35-ADEF-91D14BC4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786" y="1117801"/>
            <a:ext cx="10211136" cy="47399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5C8174-D277-DD62-BF4A-B9FDDCAF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2" y="2199503"/>
            <a:ext cx="11994292" cy="465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07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43FB-4FDC-5217-59D6-8EEF1B4E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90" y="916858"/>
            <a:ext cx="4250162" cy="461841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Churn Impact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592FC-3F4D-8875-43F2-DF043A16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470" y="1092539"/>
            <a:ext cx="10584762" cy="57231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B48080B7-206A-016D-B840-A9B083D3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3" y="2224217"/>
            <a:ext cx="11928389" cy="458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46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94D6-C77F-401C-7DF2-100FB7CD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55" y="838200"/>
            <a:ext cx="4788646" cy="706964"/>
          </a:xfrm>
        </p:spPr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1E9A-30DD-5FDF-7E7D-D82EB2D7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2387600"/>
            <a:ext cx="10943303" cy="435732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1.</a:t>
            </a:r>
            <a:r>
              <a:rPr lang="en-US" b="1" dirty="0"/>
              <a:t> Improve customer engagement</a:t>
            </a:r>
            <a:r>
              <a:rPr lang="en-US" dirty="0"/>
              <a:t>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by targeting inactive customers through personalized offers 	and communication.</a:t>
            </a:r>
          </a:p>
          <a:p>
            <a:pPr marL="0" indent="0">
              <a:buNone/>
            </a:pPr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2. </a:t>
            </a:r>
            <a:r>
              <a:rPr lang="en-US" b="1" dirty="0"/>
              <a:t>Increase cross-selling strategies</a:t>
            </a:r>
            <a:r>
              <a:rPr lang="en-US" dirty="0"/>
              <a:t>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 encourage customers to adopt multiple bank products 	and 	improve retention.</a:t>
            </a:r>
          </a:p>
          <a:p>
            <a:pPr marL="0" indent="0">
              <a:buNone/>
            </a:pPr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</a:t>
            </a:r>
            <a:r>
              <a:rPr lang="en-US" b="1" dirty="0"/>
              <a:t> Focus on high-value customers</a:t>
            </a:r>
            <a:r>
              <a:rPr lang="en-US" dirty="0"/>
              <a:t>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by implementing special retention programs to reduce 	financial 	loss.</a:t>
            </a:r>
          </a:p>
          <a:p>
            <a:pPr marL="0" indent="0">
              <a:buNone/>
            </a:pPr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</a:t>
            </a:r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b="1" dirty="0"/>
              <a:t>Develop region-specific retention strategies</a:t>
            </a:r>
            <a:r>
              <a:rPr lang="en-US" dirty="0"/>
              <a:t>,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especially for Germany where churn risk is 	highest.</a:t>
            </a:r>
          </a:p>
          <a:p>
            <a:pPr marL="0" indent="0">
              <a:buNone/>
            </a:pPr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5.</a:t>
            </a:r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b="1" dirty="0"/>
              <a:t>Introduce early churn detection</a:t>
            </a:r>
            <a:r>
              <a:rPr lang="en-US" dirty="0"/>
              <a:t>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using activity level and product usage patterns.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</a:t>
            </a:r>
            <a:r>
              <a:rPr lang="en-US" b="1" dirty="0"/>
              <a:t> Strengthen loyalty programs</a:t>
            </a:r>
            <a:r>
              <a:rPr lang="en-US" dirty="0"/>
              <a:t>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 retain customers in the high-risk age group (36–55 years).</a:t>
            </a:r>
          </a:p>
          <a:p>
            <a:pPr marL="0" indent="0">
              <a:buNone/>
            </a:pPr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7. </a:t>
            </a:r>
            <a:r>
              <a:rPr lang="en-US" b="1" dirty="0"/>
              <a:t>Provide targeted financial incentives</a:t>
            </a:r>
            <a:r>
              <a:rPr lang="en-US" dirty="0"/>
              <a:t> </a:t>
            </a:r>
            <a:r>
              <a:rPr lang="en-US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(offers, benefits) to customers showing churn signals.</a:t>
            </a:r>
            <a:endParaRPr lang="en-IN" dirty="0">
              <a:solidFill>
                <a:srgbClr val="55ACBD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14350" lvl="1" indent="0">
              <a:buNone/>
            </a:pPr>
            <a:endParaRPr lang="en-US" sz="1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10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6F77-20F2-0EE8-D4C4-985E52A49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9"/>
            <a:ext cx="413840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b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F824-D6E2-A57D-A744-AE5D36D6E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440" y="3016250"/>
            <a:ext cx="5262880" cy="135255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THANK YOU…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10841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816</Words>
  <Application>Microsoft Office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Century Gothic</vt:lpstr>
      <vt:lpstr>Courier New</vt:lpstr>
      <vt:lpstr>Inter</vt:lpstr>
      <vt:lpstr>Lato black</vt:lpstr>
      <vt:lpstr>Segoe UI</vt:lpstr>
      <vt:lpstr>Segoe UI Semibold</vt:lpstr>
      <vt:lpstr>Wingdings</vt:lpstr>
      <vt:lpstr>Wingdings 3</vt:lpstr>
      <vt:lpstr>Ion Boardroom</vt:lpstr>
      <vt:lpstr>Bank Customer Churn &amp; Financial Risk Analysis</vt:lpstr>
      <vt:lpstr>CONTENTS</vt:lpstr>
      <vt:lpstr>INTRODUCTION</vt:lpstr>
      <vt:lpstr>DATASET</vt:lpstr>
      <vt:lpstr>TOOLS USED</vt:lpstr>
      <vt:lpstr>Bank Churn Analysis Overview</vt:lpstr>
      <vt:lpstr>Churn Analysis</vt:lpstr>
      <vt:lpstr>Financial Analysis</vt:lpstr>
      <vt:lpstr>Bank Product Analysis</vt:lpstr>
      <vt:lpstr>Customer Engagement and Loyalty</vt:lpstr>
      <vt:lpstr>Churn Impact Analysis</vt:lpstr>
      <vt:lpstr>KEY INSIGHTS AND OBSERVATIONS</vt:lpstr>
      <vt:lpstr>1. Bank Churn Overview Dashboard</vt:lpstr>
      <vt:lpstr>2.Churn Analysis</vt:lpstr>
      <vt:lpstr>3. Financial Analysis</vt:lpstr>
      <vt:lpstr>4. Bank Products Analysis</vt:lpstr>
      <vt:lpstr>5. Customer Engagement and Loyalty </vt:lpstr>
      <vt:lpstr>6. Churn Impact Analysis </vt:lpstr>
      <vt:lpstr>RECOMMENDATIONS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Lodhi</dc:creator>
  <cp:lastModifiedBy>Suyog Lodhi</cp:lastModifiedBy>
  <cp:revision>8</cp:revision>
  <dcterms:created xsi:type="dcterms:W3CDTF">2026-02-08T05:16:57Z</dcterms:created>
  <dcterms:modified xsi:type="dcterms:W3CDTF">2026-03-17T07:07:26Z</dcterms:modified>
</cp:coreProperties>
</file>